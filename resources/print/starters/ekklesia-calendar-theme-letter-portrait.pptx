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772400" cy="1005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calendar theme. The dashed blue boxes mark where Ekklesia writes the title, month, calendar grid, key and footer. Decorate around them, keep their names, and upload the .pptx to Ekklesia.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7772400" cy="141732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6537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6903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6217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93726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95554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LENDAR_TITLE"/>
          <p:cNvSpPr/>
          <p:nvPr/>
        </p:nvSpPr>
        <p:spPr>
          <a:xfrm>
            <a:off x="457200" y="274320"/>
            <a:ext cx="5394960" cy="65836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CALENDAR_TITLE</a:t>
            </a:r>
          </a:p>
          <a:p>
            <a:pPr algn="ctr"/>
            <a:r>
              <a:rPr sz="900">
                <a:solidFill>
                  <a:srgbClr val="1B7FB5"/>
                </a:solidFill>
              </a:rPr>
              <a:t>The calendar title is written here</a:t>
            </a:r>
          </a:p>
        </p:txBody>
      </p:sp>
      <p:sp>
        <p:nvSpPr>
          <p:cNvPr id="9" name="MONTH_HEADING"/>
          <p:cNvSpPr/>
          <p:nvPr/>
        </p:nvSpPr>
        <p:spPr>
          <a:xfrm>
            <a:off x="457200" y="978408"/>
            <a:ext cx="3017520" cy="38404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MONTH_HEADING</a:t>
            </a:r>
          </a:p>
          <a:p>
            <a:pPr algn="ctr"/>
            <a:r>
              <a:rPr sz="900">
                <a:solidFill>
                  <a:srgbClr val="1B7FB5"/>
                </a:solidFill>
              </a:rPr>
              <a:t>Month and year</a:t>
            </a:r>
          </a:p>
        </p:txBody>
      </p:sp>
      <p:sp>
        <p:nvSpPr>
          <p:cNvPr id="10" name="SUBTITLE"/>
          <p:cNvSpPr/>
          <p:nvPr/>
        </p:nvSpPr>
        <p:spPr>
          <a:xfrm>
            <a:off x="3611880" y="1005840"/>
            <a:ext cx="2606039" cy="329184"/>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SUBTITLE</a:t>
            </a:r>
          </a:p>
          <a:p>
            <a:pPr algn="ctr"/>
            <a:r>
              <a:rPr sz="900">
                <a:solidFill>
                  <a:srgbClr val="1B7FB5"/>
                </a:solidFill>
              </a:rPr>
              <a:t>Optional line under the title</a:t>
            </a:r>
          </a:p>
        </p:txBody>
      </p:sp>
      <p:sp>
        <p:nvSpPr>
          <p:cNvPr id="11" name="CALENDAR_GRID"/>
          <p:cNvSpPr/>
          <p:nvPr/>
        </p:nvSpPr>
        <p:spPr>
          <a:xfrm>
            <a:off x="457200" y="1508760"/>
            <a:ext cx="6858000" cy="731520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CALENDAR_GRID</a:t>
            </a:r>
          </a:p>
          <a:p>
            <a:pPr algn="ctr"/>
            <a:r>
              <a:rPr sz="900">
                <a:solidFill>
                  <a:srgbClr val="1B7FB5"/>
                </a:solidFill>
              </a:rPr>
              <a:t>Ekklesia draws the month here: seven days, four to six weeks. Busy weeks grow; keep this area plain.</a:t>
            </a:r>
          </a:p>
        </p:txBody>
      </p:sp>
      <p:sp>
        <p:nvSpPr>
          <p:cNvPr id="12" name="LEGEND"/>
          <p:cNvSpPr/>
          <p:nvPr/>
        </p:nvSpPr>
        <p:spPr>
          <a:xfrm>
            <a:off x="1554480" y="8915400"/>
            <a:ext cx="5760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LEGEND</a:t>
            </a:r>
          </a:p>
          <a:p>
            <a:pPr algn="ctr"/>
            <a:r>
              <a:rPr sz="900">
                <a:solidFill>
                  <a:srgbClr val="1B7FB5"/>
                </a:solidFill>
              </a:rPr>
              <a:t>Member-type key (optional)</a:t>
            </a:r>
          </a:p>
        </p:txBody>
      </p:sp>
      <p:sp>
        <p:nvSpPr>
          <p:cNvPr id="13" name="FOOTER"/>
          <p:cNvSpPr/>
          <p:nvPr/>
        </p:nvSpPr>
        <p:spPr>
          <a:xfrm>
            <a:off x="1554480" y="9555480"/>
            <a:ext cx="5760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FOOTER</a:t>
            </a:r>
          </a:p>
          <a:p>
            <a:pPr algn="ctr"/>
            <a:r>
              <a:rPr sz="900">
                <a:solidFill>
                  <a:srgbClr val="1B7FB5"/>
                </a:solidFill>
              </a:rPr>
              <a:t>Footer (optional)</a:t>
            </a:r>
          </a:p>
        </p:txBody>
      </p:sp>
      <p:sp>
        <p:nvSpPr>
          <p:cNvPr id="14" name="GUIDE safe margin"/>
          <p:cNvSpPr/>
          <p:nvPr/>
        </p:nvSpPr>
        <p:spPr>
          <a:xfrm>
            <a:off x="228600" y="228600"/>
            <a:ext cx="7315200" cy="9601200"/>
          </a:xfrm>
          <a:prstGeom prst="rect">
            <a:avLst/>
          </a:prstGeom>
          <a:noFill/>
          <a:ln w="9525">
            <a:solidFill>
              <a:srgbClr val="C03A2B"/>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UIDE instructions"/>
          <p:cNvSpPr txBox="1"/>
          <p:nvPr/>
        </p:nvSpPr>
        <p:spPr>
          <a:xfrm>
            <a:off x="8046720" y="182880"/>
            <a:ext cx="3291840" cy="9692640"/>
          </a:xfrm>
          <a:prstGeom prst="rect">
            <a:avLst/>
          </a:prstGeom>
          <a:noFill/>
        </p:spPr>
        <p:txBody>
          <a:bodyPr wrap="square">
            <a:spAutoFit/>
          </a:bodyPr>
          <a:lstStyle/>
          <a:p>
            <a:r>
              <a:rPr sz="1000" b="1">
                <a:solidFill>
                  <a:srgbClr val="1F3A2E"/>
                </a:solidFill>
              </a:rPr>
              <a:t>Ekklesia calendar theme — Letter portrait</a:t>
            </a:r>
          </a:p>
          <a:p>
            <a:r>
              <a:rPr sz="1000">
                <a:solidFill>
                  <a:srgbClr val="1F3A2E"/>
                </a:solidFill>
              </a:rPr>
              <a:t>Decorate this slide: colours, a background picture, shapes, borders and seasonal artwork.</a:t>
            </a:r>
          </a:p>
          <a:p>
            <a:r>
              <a:rPr sz="1000">
                <a:solidFill>
                  <a:srgbClr val="1F3A2E"/>
                </a:solidFill>
              </a:rPr>
              <a:t>The dashed blue boxes are where Ekklesia writes. Move and resize them to suit your design, but keep their names (Home ▸ Arrange ▸ Selection Pane shows them). CALENDAR_TITLE, MONTH_HEADING and CALENDAR_GRID are required; SUBTITLE, LEGEND and FOOTER may be deleted.</a:t>
            </a:r>
          </a:p>
          <a:p>
            <a:r>
              <a:rPr sz="1000">
                <a:solidFill>
                  <a:srgbClr val="1F3A2E"/>
                </a:solidFill>
              </a:rPr>
              <a:t>Keep the calendar area plain or very light: names and dates are printed over it.</a:t>
            </a:r>
          </a:p>
          <a:p>
            <a:r>
              <a:rPr sz="1000">
                <a:solidFill>
                  <a:srgbClr val="1F3A2E"/>
                </a:solidFill>
              </a:rPr>
              <a:t>Keep important artwork inside the red dotted margin: most printers cannot print to the edge.</a:t>
            </a:r>
          </a:p>
          <a:p>
            <a:r>
              <a:rPr sz="1000">
                <a:solidFill>
                  <a:srgbClr val="1F3A2E"/>
                </a:solidFill>
              </a:rPr>
              <a:t>Use pictures (JPEG or PNG), rectangles, rounded rectangles, ovals and text boxes. Charts, SmartArt, video, gradients and effects are not used by Ekklesia and will be left out.</a:t>
            </a:r>
          </a:p>
          <a:p>
            <a:r>
              <a:rPr sz="1000">
                <a:solidFill>
                  <a:srgbClr val="1F3A2E"/>
                </a:solidFill>
              </a:rPr>
              <a:t>Do not change the slide size. Only slide 1 is used; slide 2 is an example.</a:t>
            </a:r>
          </a:p>
          <a:p>
            <a:r>
              <a:rPr sz="1000">
                <a:solidFill>
                  <a:srgbClr val="1F3A2E"/>
                </a:solidFill>
              </a:rPr>
              <a:t>Save as .pptx (not .pptm) and upload it in the Print studio under PowerPoint themes.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7772400" cy="141732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6537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6903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6217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93726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95554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ample title"/>
          <p:cNvSpPr txBox="1"/>
          <p:nvPr/>
        </p:nvSpPr>
        <p:spPr>
          <a:xfrm>
            <a:off x="457200" y="274320"/>
            <a:ext cx="5394960" cy="658368"/>
          </a:xfrm>
          <a:prstGeom prst="rect">
            <a:avLst/>
          </a:prstGeom>
          <a:noFill/>
        </p:spPr>
        <p:txBody>
          <a:bodyPr wrap="none">
            <a:spAutoFit/>
          </a:bodyPr>
          <a:lstStyle/>
          <a:p>
            <a:r>
              <a:rPr sz="3000" b="1">
                <a:solidFill>
                  <a:srgbClr val="1F3A2E"/>
                </a:solidFill>
              </a:rPr>
              <a:t>Birthdays</a:t>
            </a:r>
          </a:p>
        </p:txBody>
      </p:sp>
      <p:sp>
        <p:nvSpPr>
          <p:cNvPr id="9" name="Example month"/>
          <p:cNvSpPr txBox="1"/>
          <p:nvPr/>
        </p:nvSpPr>
        <p:spPr>
          <a:xfrm>
            <a:off x="457200" y="960120"/>
            <a:ext cx="3017520" cy="411480"/>
          </a:xfrm>
          <a:prstGeom prst="rect">
            <a:avLst/>
          </a:prstGeom>
          <a:noFill/>
        </p:spPr>
        <p:txBody>
          <a:bodyPr wrap="none">
            <a:spAutoFit/>
          </a:bodyPr>
          <a:lstStyle/>
          <a:p>
            <a:r>
              <a:rPr sz="1800"/>
              <a:t>September 2026</a:t>
            </a:r>
          </a:p>
        </p:txBody>
      </p:sp>
      <p:sp>
        <p:nvSpPr>
          <p:cNvPr id="10" name="Rectangle 9"/>
          <p:cNvSpPr/>
          <p:nvPr/>
        </p:nvSpPr>
        <p:spPr>
          <a:xfrm>
            <a:off x="457200"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a:t>
            </a:r>
          </a:p>
        </p:txBody>
      </p:sp>
      <p:sp>
        <p:nvSpPr>
          <p:cNvPr id="11" name="Rectangle 10"/>
          <p:cNvSpPr/>
          <p:nvPr/>
        </p:nvSpPr>
        <p:spPr>
          <a:xfrm>
            <a:off x="1436914"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a:t>
            </a:r>
          </a:p>
        </p:txBody>
      </p:sp>
      <p:sp>
        <p:nvSpPr>
          <p:cNvPr id="12" name="Rectangle 11"/>
          <p:cNvSpPr/>
          <p:nvPr/>
        </p:nvSpPr>
        <p:spPr>
          <a:xfrm>
            <a:off x="2416628"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a:t>
            </a:r>
          </a:p>
        </p:txBody>
      </p:sp>
      <p:sp>
        <p:nvSpPr>
          <p:cNvPr id="13" name="Rectangle 12"/>
          <p:cNvSpPr/>
          <p:nvPr/>
        </p:nvSpPr>
        <p:spPr>
          <a:xfrm>
            <a:off x="3396342"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4</a:t>
            </a:r>
          </a:p>
        </p:txBody>
      </p:sp>
      <p:sp>
        <p:nvSpPr>
          <p:cNvPr id="14" name="Rectangle 13"/>
          <p:cNvSpPr/>
          <p:nvPr/>
        </p:nvSpPr>
        <p:spPr>
          <a:xfrm>
            <a:off x="4376057"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5</a:t>
            </a:r>
          </a:p>
        </p:txBody>
      </p:sp>
      <p:sp>
        <p:nvSpPr>
          <p:cNvPr id="15" name="Rectangle 14"/>
          <p:cNvSpPr/>
          <p:nvPr/>
        </p:nvSpPr>
        <p:spPr>
          <a:xfrm>
            <a:off x="5355771"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6</a:t>
            </a:r>
          </a:p>
        </p:txBody>
      </p:sp>
      <p:sp>
        <p:nvSpPr>
          <p:cNvPr id="16" name="Rectangle 15"/>
          <p:cNvSpPr/>
          <p:nvPr/>
        </p:nvSpPr>
        <p:spPr>
          <a:xfrm>
            <a:off x="6335485"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7</a:t>
            </a:r>
          </a:p>
        </p:txBody>
      </p:sp>
      <p:sp>
        <p:nvSpPr>
          <p:cNvPr id="17" name="Rectangle 16"/>
          <p:cNvSpPr/>
          <p:nvPr/>
        </p:nvSpPr>
        <p:spPr>
          <a:xfrm>
            <a:off x="457200"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8</a:t>
            </a:r>
          </a:p>
        </p:txBody>
      </p:sp>
      <p:sp>
        <p:nvSpPr>
          <p:cNvPr id="18" name="Rectangle 17"/>
          <p:cNvSpPr/>
          <p:nvPr/>
        </p:nvSpPr>
        <p:spPr>
          <a:xfrm>
            <a:off x="1436914"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9</a:t>
            </a:r>
          </a:p>
        </p:txBody>
      </p:sp>
      <p:sp>
        <p:nvSpPr>
          <p:cNvPr id="19" name="Rectangle 18"/>
          <p:cNvSpPr/>
          <p:nvPr/>
        </p:nvSpPr>
        <p:spPr>
          <a:xfrm>
            <a:off x="2416628"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10</a:t>
            </a:r>
          </a:p>
        </p:txBody>
      </p:sp>
      <p:sp>
        <p:nvSpPr>
          <p:cNvPr id="20" name="Rectangle 19"/>
          <p:cNvSpPr/>
          <p:nvPr/>
        </p:nvSpPr>
        <p:spPr>
          <a:xfrm>
            <a:off x="3396342"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11</a:t>
            </a:r>
          </a:p>
        </p:txBody>
      </p:sp>
      <p:sp>
        <p:nvSpPr>
          <p:cNvPr id="21" name="Rectangle 20"/>
          <p:cNvSpPr/>
          <p:nvPr/>
        </p:nvSpPr>
        <p:spPr>
          <a:xfrm>
            <a:off x="4376057"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12</a:t>
            </a:r>
          </a:p>
        </p:txBody>
      </p:sp>
      <p:sp>
        <p:nvSpPr>
          <p:cNvPr id="22" name="Rectangle 21"/>
          <p:cNvSpPr/>
          <p:nvPr/>
        </p:nvSpPr>
        <p:spPr>
          <a:xfrm>
            <a:off x="5355771"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13</a:t>
            </a:r>
          </a:p>
        </p:txBody>
      </p:sp>
      <p:sp>
        <p:nvSpPr>
          <p:cNvPr id="23" name="Rectangle 22"/>
          <p:cNvSpPr/>
          <p:nvPr/>
        </p:nvSpPr>
        <p:spPr>
          <a:xfrm>
            <a:off x="6335485"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14</a:t>
            </a:r>
          </a:p>
        </p:txBody>
      </p:sp>
      <p:sp>
        <p:nvSpPr>
          <p:cNvPr id="24" name="Rectangle 23"/>
          <p:cNvSpPr/>
          <p:nvPr/>
        </p:nvSpPr>
        <p:spPr>
          <a:xfrm>
            <a:off x="457200"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15</a:t>
            </a:r>
          </a:p>
        </p:txBody>
      </p:sp>
      <p:sp>
        <p:nvSpPr>
          <p:cNvPr id="25" name="Rectangle 24"/>
          <p:cNvSpPr/>
          <p:nvPr/>
        </p:nvSpPr>
        <p:spPr>
          <a:xfrm>
            <a:off x="1436914"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16</a:t>
            </a:r>
          </a:p>
        </p:txBody>
      </p:sp>
      <p:sp>
        <p:nvSpPr>
          <p:cNvPr id="26" name="Rectangle 25"/>
          <p:cNvSpPr/>
          <p:nvPr/>
        </p:nvSpPr>
        <p:spPr>
          <a:xfrm>
            <a:off x="2416628"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17</a:t>
            </a:r>
          </a:p>
        </p:txBody>
      </p:sp>
      <p:sp>
        <p:nvSpPr>
          <p:cNvPr id="27" name="Rectangle 26"/>
          <p:cNvSpPr/>
          <p:nvPr/>
        </p:nvSpPr>
        <p:spPr>
          <a:xfrm>
            <a:off x="3396342"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18</a:t>
            </a:r>
          </a:p>
        </p:txBody>
      </p:sp>
      <p:sp>
        <p:nvSpPr>
          <p:cNvPr id="28" name="Rectangle 27"/>
          <p:cNvSpPr/>
          <p:nvPr/>
        </p:nvSpPr>
        <p:spPr>
          <a:xfrm>
            <a:off x="4376057"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19</a:t>
            </a:r>
          </a:p>
        </p:txBody>
      </p:sp>
      <p:sp>
        <p:nvSpPr>
          <p:cNvPr id="29" name="Rectangle 28"/>
          <p:cNvSpPr/>
          <p:nvPr/>
        </p:nvSpPr>
        <p:spPr>
          <a:xfrm>
            <a:off x="5355771"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20</a:t>
            </a:r>
          </a:p>
        </p:txBody>
      </p:sp>
      <p:sp>
        <p:nvSpPr>
          <p:cNvPr id="30" name="Rectangle 29"/>
          <p:cNvSpPr/>
          <p:nvPr/>
        </p:nvSpPr>
        <p:spPr>
          <a:xfrm>
            <a:off x="6335485"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21</a:t>
            </a:r>
          </a:p>
        </p:txBody>
      </p:sp>
      <p:sp>
        <p:nvSpPr>
          <p:cNvPr id="31" name="Rectangle 30"/>
          <p:cNvSpPr/>
          <p:nvPr/>
        </p:nvSpPr>
        <p:spPr>
          <a:xfrm>
            <a:off x="457200"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22</a:t>
            </a:r>
          </a:p>
        </p:txBody>
      </p:sp>
      <p:sp>
        <p:nvSpPr>
          <p:cNvPr id="32" name="Rectangle 31"/>
          <p:cNvSpPr/>
          <p:nvPr/>
        </p:nvSpPr>
        <p:spPr>
          <a:xfrm>
            <a:off x="1436914"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23</a:t>
            </a:r>
          </a:p>
        </p:txBody>
      </p:sp>
      <p:sp>
        <p:nvSpPr>
          <p:cNvPr id="33" name="Rectangle 32"/>
          <p:cNvSpPr/>
          <p:nvPr/>
        </p:nvSpPr>
        <p:spPr>
          <a:xfrm>
            <a:off x="2416628"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24</a:t>
            </a:r>
          </a:p>
        </p:txBody>
      </p:sp>
      <p:sp>
        <p:nvSpPr>
          <p:cNvPr id="34" name="Rectangle 33"/>
          <p:cNvSpPr/>
          <p:nvPr/>
        </p:nvSpPr>
        <p:spPr>
          <a:xfrm>
            <a:off x="3396342"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25</a:t>
            </a:r>
          </a:p>
        </p:txBody>
      </p:sp>
      <p:sp>
        <p:nvSpPr>
          <p:cNvPr id="35" name="Rectangle 34"/>
          <p:cNvSpPr/>
          <p:nvPr/>
        </p:nvSpPr>
        <p:spPr>
          <a:xfrm>
            <a:off x="4376057"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26</a:t>
            </a:r>
          </a:p>
        </p:txBody>
      </p:sp>
      <p:sp>
        <p:nvSpPr>
          <p:cNvPr id="36" name="Rectangle 35"/>
          <p:cNvSpPr/>
          <p:nvPr/>
        </p:nvSpPr>
        <p:spPr>
          <a:xfrm>
            <a:off x="5355771"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27</a:t>
            </a:r>
          </a:p>
        </p:txBody>
      </p:sp>
      <p:sp>
        <p:nvSpPr>
          <p:cNvPr id="37" name="Rectangle 36"/>
          <p:cNvSpPr/>
          <p:nvPr/>
        </p:nvSpPr>
        <p:spPr>
          <a:xfrm>
            <a:off x="6335485"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28</a:t>
            </a:r>
          </a:p>
        </p:txBody>
      </p:sp>
      <p:sp>
        <p:nvSpPr>
          <p:cNvPr id="38" name="Rectangle 37"/>
          <p:cNvSpPr/>
          <p:nvPr/>
        </p:nvSpPr>
        <p:spPr>
          <a:xfrm>
            <a:off x="457200"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29</a:t>
            </a:r>
          </a:p>
        </p:txBody>
      </p:sp>
      <p:sp>
        <p:nvSpPr>
          <p:cNvPr id="39" name="Rectangle 38"/>
          <p:cNvSpPr/>
          <p:nvPr/>
        </p:nvSpPr>
        <p:spPr>
          <a:xfrm>
            <a:off x="1436914"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30</a:t>
            </a:r>
          </a:p>
        </p:txBody>
      </p:sp>
      <p:sp>
        <p:nvSpPr>
          <p:cNvPr id="40" name="Rectangle 39"/>
          <p:cNvSpPr/>
          <p:nvPr/>
        </p:nvSpPr>
        <p:spPr>
          <a:xfrm>
            <a:off x="2416628"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1" name="Rectangle 40"/>
          <p:cNvSpPr/>
          <p:nvPr/>
        </p:nvSpPr>
        <p:spPr>
          <a:xfrm>
            <a:off x="3396342"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2" name="Rectangle 41"/>
          <p:cNvSpPr/>
          <p:nvPr/>
        </p:nvSpPr>
        <p:spPr>
          <a:xfrm>
            <a:off x="4376057"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3" name="Rectangle 42"/>
          <p:cNvSpPr/>
          <p:nvPr/>
        </p:nvSpPr>
        <p:spPr>
          <a:xfrm>
            <a:off x="5355771"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4" name="Rectangle 43"/>
          <p:cNvSpPr/>
          <p:nvPr/>
        </p:nvSpPr>
        <p:spPr>
          <a:xfrm>
            <a:off x="6335485"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5" name="GUIDE instructions"/>
          <p:cNvSpPr txBox="1"/>
          <p:nvPr/>
        </p:nvSpPr>
        <p:spPr>
          <a:xfrm>
            <a:off x="457200" y="9601200"/>
            <a:ext cx="6858000" cy="365760"/>
          </a:xfrm>
          <a:prstGeom prst="rect">
            <a:avLst/>
          </a:prstGeom>
          <a:noFill/>
        </p:spPr>
        <p:txBody>
          <a:bodyPr wrap="square">
            <a:spAutoFit/>
          </a:bodyPr>
          <a:lstStyle/>
          <a:p>
            <a:r>
              <a:rPr sz="900" b="1">
                <a:solidFill>
                  <a:srgbClr val="1F3A2E"/>
                </a:solidFill>
              </a:rPr>
              <a:t>Example only — slide 2 is not imported. Ekklesia fills slide 1 with your real calendar.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Ekklesia calendar theme</dc:title>
  <dc:subject>Ekklesia calendar theme starter (Letter portrait)</dc:subject>
  <dc:creator>Ekklesia</dc:creator>
  <cp:keywords>ekklesia-theme; contract v1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