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7562088" cy="10689336"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your calendar theme. The dashed blue boxes mark where Ekklesia writes the title, month, calendar grid, key and footer. Decorate around them, keep their names, and upload the .pptx to Ekklesia.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nd"/>
          <p:cNvSpPr/>
          <p:nvPr/>
        </p:nvSpPr>
        <p:spPr>
          <a:xfrm>
            <a:off x="0" y="0"/>
            <a:ext cx="7562088" cy="1417320"/>
          </a:xfrm>
          <a:prstGeom prst="rect">
            <a:avLst/>
          </a:prstGeom>
          <a:solidFill>
            <a:srgbClr val="F3F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eaf 1"/>
          <p:cNvSpPr/>
          <p:nvPr/>
        </p:nvSpPr>
        <p:spPr>
          <a:xfrm rot="1500000">
            <a:off x="6327648" y="137160"/>
            <a:ext cx="822960" cy="384048"/>
          </a:xfrm>
          <a:prstGeom prst="ellipse">
            <a:avLst/>
          </a:prstGeom>
          <a:solidFill>
            <a:srgbClr val="6F9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Leaf 2"/>
          <p:cNvSpPr/>
          <p:nvPr/>
        </p:nvSpPr>
        <p:spPr>
          <a:xfrm rot="19800000">
            <a:off x="6693407" y="502920"/>
            <a:ext cx="640080" cy="292608"/>
          </a:xfrm>
          <a:prstGeom prst="ellipse">
            <a:avLst/>
          </a:prstGeom>
          <a:solidFill>
            <a:srgbClr val="B883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Leaf 3"/>
          <p:cNvSpPr/>
          <p:nvPr/>
        </p:nvSpPr>
        <p:spPr>
          <a:xfrm rot="3600000">
            <a:off x="6007607" y="566928"/>
            <a:ext cx="548640" cy="256032"/>
          </a:xfrm>
          <a:prstGeom prst="ellipse">
            <a:avLst/>
          </a:prstGeom>
          <a:solidFill>
            <a:srgbClr val="B44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af 4"/>
          <p:cNvSpPr/>
          <p:nvPr/>
        </p:nvSpPr>
        <p:spPr>
          <a:xfrm rot="20400000">
            <a:off x="182880" y="10003536"/>
            <a:ext cx="822960" cy="384048"/>
          </a:xfrm>
          <a:prstGeom prst="ellipse">
            <a:avLst/>
          </a:prstGeom>
          <a:solidFill>
            <a:srgbClr val="357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Leaf 5"/>
          <p:cNvSpPr/>
          <p:nvPr/>
        </p:nvSpPr>
        <p:spPr>
          <a:xfrm rot="2100000">
            <a:off x="685800" y="10186415"/>
            <a:ext cx="640080" cy="292608"/>
          </a:xfrm>
          <a:prstGeom prst="ellipse">
            <a:avLst/>
          </a:prstGeom>
          <a:solidFill>
            <a:srgbClr val="6F9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LENDAR_TITLE"/>
          <p:cNvSpPr/>
          <p:nvPr/>
        </p:nvSpPr>
        <p:spPr>
          <a:xfrm>
            <a:off x="457200" y="274320"/>
            <a:ext cx="5184648" cy="658368"/>
          </a:xfrm>
          <a:prstGeom prst="rect">
            <a:avLst/>
          </a:prstGeom>
          <a:noFill/>
          <a:ln w="15875">
            <a:solidFill>
              <a:srgbClr val="1B7FB5"/>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7FB5"/>
                </a:solidFill>
              </a:rPr>
              <a:t>CALENDAR_TITLE</a:t>
            </a:r>
          </a:p>
          <a:p>
            <a:pPr algn="ctr"/>
            <a:r>
              <a:rPr sz="900">
                <a:solidFill>
                  <a:srgbClr val="1B7FB5"/>
                </a:solidFill>
              </a:rPr>
              <a:t>The calendar title is written here</a:t>
            </a:r>
          </a:p>
        </p:txBody>
      </p:sp>
      <p:sp>
        <p:nvSpPr>
          <p:cNvPr id="9" name="MONTH_HEADING"/>
          <p:cNvSpPr/>
          <p:nvPr/>
        </p:nvSpPr>
        <p:spPr>
          <a:xfrm>
            <a:off x="457200" y="978408"/>
            <a:ext cx="3017520" cy="384048"/>
          </a:xfrm>
          <a:prstGeom prst="rect">
            <a:avLst/>
          </a:prstGeom>
          <a:noFill/>
          <a:ln w="15875">
            <a:solidFill>
              <a:srgbClr val="1B7FB5"/>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7FB5"/>
                </a:solidFill>
              </a:rPr>
              <a:t>MONTH_HEADING</a:t>
            </a:r>
          </a:p>
          <a:p>
            <a:pPr algn="ctr"/>
            <a:r>
              <a:rPr sz="900">
                <a:solidFill>
                  <a:srgbClr val="1B7FB5"/>
                </a:solidFill>
              </a:rPr>
              <a:t>Month and year</a:t>
            </a:r>
          </a:p>
        </p:txBody>
      </p:sp>
      <p:sp>
        <p:nvSpPr>
          <p:cNvPr id="10" name="SUBTITLE"/>
          <p:cNvSpPr/>
          <p:nvPr/>
        </p:nvSpPr>
        <p:spPr>
          <a:xfrm>
            <a:off x="3611880" y="1005840"/>
            <a:ext cx="2395727" cy="329184"/>
          </a:xfrm>
          <a:prstGeom prst="rect">
            <a:avLst/>
          </a:prstGeom>
          <a:noFill/>
          <a:ln w="15875">
            <a:solidFill>
              <a:srgbClr val="1B7FB5"/>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7FB5"/>
                </a:solidFill>
              </a:rPr>
              <a:t>SUBTITLE</a:t>
            </a:r>
          </a:p>
          <a:p>
            <a:pPr algn="ctr"/>
            <a:r>
              <a:rPr sz="900">
                <a:solidFill>
                  <a:srgbClr val="1B7FB5"/>
                </a:solidFill>
              </a:rPr>
              <a:t>Optional line under the title</a:t>
            </a:r>
          </a:p>
        </p:txBody>
      </p:sp>
      <p:sp>
        <p:nvSpPr>
          <p:cNvPr id="11" name="CALENDAR_GRID"/>
          <p:cNvSpPr/>
          <p:nvPr/>
        </p:nvSpPr>
        <p:spPr>
          <a:xfrm>
            <a:off x="457200" y="1508760"/>
            <a:ext cx="6647688" cy="7946136"/>
          </a:xfrm>
          <a:prstGeom prst="rect">
            <a:avLst/>
          </a:prstGeom>
          <a:noFill/>
          <a:ln w="15875">
            <a:solidFill>
              <a:srgbClr val="1B7FB5"/>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7FB5"/>
                </a:solidFill>
              </a:rPr>
              <a:t>CALENDAR_GRID</a:t>
            </a:r>
          </a:p>
          <a:p>
            <a:pPr algn="ctr"/>
            <a:r>
              <a:rPr sz="900">
                <a:solidFill>
                  <a:srgbClr val="1B7FB5"/>
                </a:solidFill>
              </a:rPr>
              <a:t>Ekklesia draws the month here: seven days, four to six weeks. Busy weeks grow; keep this area plain.</a:t>
            </a:r>
          </a:p>
        </p:txBody>
      </p:sp>
      <p:sp>
        <p:nvSpPr>
          <p:cNvPr id="12" name="LEGEND"/>
          <p:cNvSpPr/>
          <p:nvPr/>
        </p:nvSpPr>
        <p:spPr>
          <a:xfrm>
            <a:off x="1554480" y="9546336"/>
            <a:ext cx="5550407" cy="274320"/>
          </a:xfrm>
          <a:prstGeom prst="rect">
            <a:avLst/>
          </a:prstGeom>
          <a:noFill/>
          <a:ln w="15875">
            <a:solidFill>
              <a:srgbClr val="1B7FB5"/>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7FB5"/>
                </a:solidFill>
              </a:rPr>
              <a:t>LEGEND</a:t>
            </a:r>
          </a:p>
          <a:p>
            <a:pPr algn="ctr"/>
            <a:r>
              <a:rPr sz="900">
                <a:solidFill>
                  <a:srgbClr val="1B7FB5"/>
                </a:solidFill>
              </a:rPr>
              <a:t>Member-type key (optional)</a:t>
            </a:r>
          </a:p>
        </p:txBody>
      </p:sp>
      <p:sp>
        <p:nvSpPr>
          <p:cNvPr id="13" name="FOOTER"/>
          <p:cNvSpPr/>
          <p:nvPr/>
        </p:nvSpPr>
        <p:spPr>
          <a:xfrm>
            <a:off x="1554480" y="10186415"/>
            <a:ext cx="5550407" cy="274320"/>
          </a:xfrm>
          <a:prstGeom prst="rect">
            <a:avLst/>
          </a:prstGeom>
          <a:noFill/>
          <a:ln w="15875">
            <a:solidFill>
              <a:srgbClr val="1B7FB5"/>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7FB5"/>
                </a:solidFill>
              </a:rPr>
              <a:t>FOOTER</a:t>
            </a:r>
          </a:p>
          <a:p>
            <a:pPr algn="ctr"/>
            <a:r>
              <a:rPr sz="900">
                <a:solidFill>
                  <a:srgbClr val="1B7FB5"/>
                </a:solidFill>
              </a:rPr>
              <a:t>Footer (optional)</a:t>
            </a:r>
          </a:p>
        </p:txBody>
      </p:sp>
      <p:sp>
        <p:nvSpPr>
          <p:cNvPr id="14" name="GUIDE safe margin"/>
          <p:cNvSpPr/>
          <p:nvPr/>
        </p:nvSpPr>
        <p:spPr>
          <a:xfrm>
            <a:off x="228600" y="228600"/>
            <a:ext cx="7104888" cy="10232136"/>
          </a:xfrm>
          <a:prstGeom prst="rect">
            <a:avLst/>
          </a:prstGeom>
          <a:noFill/>
          <a:ln w="9525">
            <a:solidFill>
              <a:srgbClr val="C03A2B"/>
            </a:solidFill>
            <a:prstDash val="sysDot"/>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GUIDE instructions"/>
          <p:cNvSpPr txBox="1"/>
          <p:nvPr/>
        </p:nvSpPr>
        <p:spPr>
          <a:xfrm>
            <a:off x="7836408" y="182880"/>
            <a:ext cx="3291840" cy="10323576"/>
          </a:xfrm>
          <a:prstGeom prst="rect">
            <a:avLst/>
          </a:prstGeom>
          <a:noFill/>
        </p:spPr>
        <p:txBody>
          <a:bodyPr wrap="square">
            <a:spAutoFit/>
          </a:bodyPr>
          <a:lstStyle/>
          <a:p>
            <a:r>
              <a:rPr sz="1000" b="1">
                <a:solidFill>
                  <a:srgbClr val="1F3A2E"/>
                </a:solidFill>
              </a:rPr>
              <a:t>Ekklesia calendar theme — A4 portrait</a:t>
            </a:r>
          </a:p>
          <a:p>
            <a:r>
              <a:rPr sz="1000">
                <a:solidFill>
                  <a:srgbClr val="1F3A2E"/>
                </a:solidFill>
              </a:rPr>
              <a:t>Decorate this slide: colours, a background picture, shapes, borders and seasonal artwork.</a:t>
            </a:r>
          </a:p>
          <a:p>
            <a:r>
              <a:rPr sz="1000">
                <a:solidFill>
                  <a:srgbClr val="1F3A2E"/>
                </a:solidFill>
              </a:rPr>
              <a:t>The dashed blue boxes are where Ekklesia writes. Move and resize them to suit your design, but keep their names (Home ▸ Arrange ▸ Selection Pane shows them). CALENDAR_TITLE, MONTH_HEADING and CALENDAR_GRID are required; SUBTITLE, LEGEND and FOOTER may be deleted.</a:t>
            </a:r>
          </a:p>
          <a:p>
            <a:r>
              <a:rPr sz="1000">
                <a:solidFill>
                  <a:srgbClr val="1F3A2E"/>
                </a:solidFill>
              </a:rPr>
              <a:t>Keep the calendar area plain or very light: names and dates are printed over it.</a:t>
            </a:r>
          </a:p>
          <a:p>
            <a:r>
              <a:rPr sz="1000">
                <a:solidFill>
                  <a:srgbClr val="1F3A2E"/>
                </a:solidFill>
              </a:rPr>
              <a:t>Keep important artwork inside the red dotted margin: most printers cannot print to the edge.</a:t>
            </a:r>
          </a:p>
          <a:p>
            <a:r>
              <a:rPr sz="1000">
                <a:solidFill>
                  <a:srgbClr val="1F3A2E"/>
                </a:solidFill>
              </a:rPr>
              <a:t>Use pictures (JPEG or PNG), rectangles, rounded rectangles, ovals and text boxes. Charts, SmartArt, video, gradients and effects are not used by Ekklesia and will be left out.</a:t>
            </a:r>
          </a:p>
          <a:p>
            <a:r>
              <a:rPr sz="1000">
                <a:solidFill>
                  <a:srgbClr val="1F3A2E"/>
                </a:solidFill>
              </a:rPr>
              <a:t>Do not change the slide size. Only slide 1 is used; slide 2 is an example.</a:t>
            </a:r>
          </a:p>
          <a:p>
            <a:r>
              <a:rPr sz="1000">
                <a:solidFill>
                  <a:srgbClr val="1F3A2E"/>
                </a:solidFill>
              </a:rPr>
              <a:t>Save as .pptx (not .pptm) and upload it in the Print studio under PowerPoint themes.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nd"/>
          <p:cNvSpPr/>
          <p:nvPr/>
        </p:nvSpPr>
        <p:spPr>
          <a:xfrm>
            <a:off x="0" y="0"/>
            <a:ext cx="7562088" cy="1417320"/>
          </a:xfrm>
          <a:prstGeom prst="rect">
            <a:avLst/>
          </a:prstGeom>
          <a:solidFill>
            <a:srgbClr val="F3F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eaf 1"/>
          <p:cNvSpPr/>
          <p:nvPr/>
        </p:nvSpPr>
        <p:spPr>
          <a:xfrm rot="1500000">
            <a:off x="6327648" y="137160"/>
            <a:ext cx="822960" cy="384048"/>
          </a:xfrm>
          <a:prstGeom prst="ellipse">
            <a:avLst/>
          </a:prstGeom>
          <a:solidFill>
            <a:srgbClr val="6F9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Leaf 2"/>
          <p:cNvSpPr/>
          <p:nvPr/>
        </p:nvSpPr>
        <p:spPr>
          <a:xfrm rot="19800000">
            <a:off x="6693407" y="502920"/>
            <a:ext cx="640080" cy="292608"/>
          </a:xfrm>
          <a:prstGeom prst="ellipse">
            <a:avLst/>
          </a:prstGeom>
          <a:solidFill>
            <a:srgbClr val="B883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Leaf 3"/>
          <p:cNvSpPr/>
          <p:nvPr/>
        </p:nvSpPr>
        <p:spPr>
          <a:xfrm rot="3600000">
            <a:off x="6007607" y="566928"/>
            <a:ext cx="548640" cy="256032"/>
          </a:xfrm>
          <a:prstGeom prst="ellipse">
            <a:avLst/>
          </a:prstGeom>
          <a:solidFill>
            <a:srgbClr val="B44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af 4"/>
          <p:cNvSpPr/>
          <p:nvPr/>
        </p:nvSpPr>
        <p:spPr>
          <a:xfrm rot="20400000">
            <a:off x="182880" y="10003536"/>
            <a:ext cx="822960" cy="384048"/>
          </a:xfrm>
          <a:prstGeom prst="ellipse">
            <a:avLst/>
          </a:prstGeom>
          <a:solidFill>
            <a:srgbClr val="357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Leaf 5"/>
          <p:cNvSpPr/>
          <p:nvPr/>
        </p:nvSpPr>
        <p:spPr>
          <a:xfrm rot="2100000">
            <a:off x="685800" y="10186415"/>
            <a:ext cx="640080" cy="292608"/>
          </a:xfrm>
          <a:prstGeom prst="ellipse">
            <a:avLst/>
          </a:prstGeom>
          <a:solidFill>
            <a:srgbClr val="6F9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xample title"/>
          <p:cNvSpPr txBox="1"/>
          <p:nvPr/>
        </p:nvSpPr>
        <p:spPr>
          <a:xfrm>
            <a:off x="457200" y="274320"/>
            <a:ext cx="5184648" cy="658368"/>
          </a:xfrm>
          <a:prstGeom prst="rect">
            <a:avLst/>
          </a:prstGeom>
          <a:noFill/>
        </p:spPr>
        <p:txBody>
          <a:bodyPr wrap="none">
            <a:spAutoFit/>
          </a:bodyPr>
          <a:lstStyle/>
          <a:p>
            <a:r>
              <a:rPr sz="3000" b="1">
                <a:solidFill>
                  <a:srgbClr val="1F3A2E"/>
                </a:solidFill>
              </a:rPr>
              <a:t>Birthdays</a:t>
            </a:r>
          </a:p>
        </p:txBody>
      </p:sp>
      <p:sp>
        <p:nvSpPr>
          <p:cNvPr id="9" name="Example month"/>
          <p:cNvSpPr txBox="1"/>
          <p:nvPr/>
        </p:nvSpPr>
        <p:spPr>
          <a:xfrm>
            <a:off x="457200" y="960120"/>
            <a:ext cx="3017520" cy="411480"/>
          </a:xfrm>
          <a:prstGeom prst="rect">
            <a:avLst/>
          </a:prstGeom>
          <a:noFill/>
        </p:spPr>
        <p:txBody>
          <a:bodyPr wrap="none">
            <a:spAutoFit/>
          </a:bodyPr>
          <a:lstStyle/>
          <a:p>
            <a:r>
              <a:rPr sz="1800"/>
              <a:t>September 2026</a:t>
            </a:r>
          </a:p>
        </p:txBody>
      </p:sp>
      <p:sp>
        <p:nvSpPr>
          <p:cNvPr id="10" name="Rectangle 9"/>
          <p:cNvSpPr/>
          <p:nvPr/>
        </p:nvSpPr>
        <p:spPr>
          <a:xfrm>
            <a:off x="457200" y="1508760"/>
            <a:ext cx="949669" cy="1589227"/>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1</a:t>
            </a:r>
          </a:p>
        </p:txBody>
      </p:sp>
      <p:sp>
        <p:nvSpPr>
          <p:cNvPr id="11" name="Rectangle 10"/>
          <p:cNvSpPr/>
          <p:nvPr/>
        </p:nvSpPr>
        <p:spPr>
          <a:xfrm>
            <a:off x="1406869" y="1508760"/>
            <a:ext cx="949669" cy="1589227"/>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2</a:t>
            </a:r>
          </a:p>
        </p:txBody>
      </p:sp>
      <p:sp>
        <p:nvSpPr>
          <p:cNvPr id="12" name="Rectangle 11"/>
          <p:cNvSpPr/>
          <p:nvPr/>
        </p:nvSpPr>
        <p:spPr>
          <a:xfrm>
            <a:off x="2356539" y="1508760"/>
            <a:ext cx="949669" cy="1589227"/>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3</a:t>
            </a:r>
          </a:p>
        </p:txBody>
      </p:sp>
      <p:sp>
        <p:nvSpPr>
          <p:cNvPr id="13" name="Rectangle 12"/>
          <p:cNvSpPr/>
          <p:nvPr/>
        </p:nvSpPr>
        <p:spPr>
          <a:xfrm>
            <a:off x="3306209" y="1508760"/>
            <a:ext cx="949669" cy="1589227"/>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4</a:t>
            </a:r>
          </a:p>
        </p:txBody>
      </p:sp>
      <p:sp>
        <p:nvSpPr>
          <p:cNvPr id="14" name="Rectangle 13"/>
          <p:cNvSpPr/>
          <p:nvPr/>
        </p:nvSpPr>
        <p:spPr>
          <a:xfrm>
            <a:off x="4255878" y="1508760"/>
            <a:ext cx="949669" cy="1589227"/>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5</a:t>
            </a:r>
          </a:p>
        </p:txBody>
      </p:sp>
      <p:sp>
        <p:nvSpPr>
          <p:cNvPr id="15" name="Rectangle 14"/>
          <p:cNvSpPr/>
          <p:nvPr/>
        </p:nvSpPr>
        <p:spPr>
          <a:xfrm>
            <a:off x="5205548" y="1508760"/>
            <a:ext cx="949669" cy="1589227"/>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6</a:t>
            </a:r>
          </a:p>
        </p:txBody>
      </p:sp>
      <p:sp>
        <p:nvSpPr>
          <p:cNvPr id="16" name="Rectangle 15"/>
          <p:cNvSpPr/>
          <p:nvPr/>
        </p:nvSpPr>
        <p:spPr>
          <a:xfrm>
            <a:off x="6155218" y="1508760"/>
            <a:ext cx="949669" cy="1589227"/>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7</a:t>
            </a:r>
          </a:p>
        </p:txBody>
      </p:sp>
      <p:sp>
        <p:nvSpPr>
          <p:cNvPr id="17" name="Rectangle 16"/>
          <p:cNvSpPr/>
          <p:nvPr/>
        </p:nvSpPr>
        <p:spPr>
          <a:xfrm>
            <a:off x="457200" y="3097987"/>
            <a:ext cx="949669" cy="1589227"/>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8</a:t>
            </a:r>
          </a:p>
        </p:txBody>
      </p:sp>
      <p:sp>
        <p:nvSpPr>
          <p:cNvPr id="18" name="Rectangle 17"/>
          <p:cNvSpPr/>
          <p:nvPr/>
        </p:nvSpPr>
        <p:spPr>
          <a:xfrm>
            <a:off x="1406869" y="3097987"/>
            <a:ext cx="949669" cy="1589227"/>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9</a:t>
            </a:r>
          </a:p>
        </p:txBody>
      </p:sp>
      <p:sp>
        <p:nvSpPr>
          <p:cNvPr id="19" name="Rectangle 18"/>
          <p:cNvSpPr/>
          <p:nvPr/>
        </p:nvSpPr>
        <p:spPr>
          <a:xfrm>
            <a:off x="2356539" y="3097987"/>
            <a:ext cx="949669" cy="1589227"/>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10</a:t>
            </a:r>
          </a:p>
        </p:txBody>
      </p:sp>
      <p:sp>
        <p:nvSpPr>
          <p:cNvPr id="20" name="Rectangle 19"/>
          <p:cNvSpPr/>
          <p:nvPr/>
        </p:nvSpPr>
        <p:spPr>
          <a:xfrm>
            <a:off x="3306209" y="3097987"/>
            <a:ext cx="949669" cy="1589227"/>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11</a:t>
            </a:r>
          </a:p>
        </p:txBody>
      </p:sp>
      <p:sp>
        <p:nvSpPr>
          <p:cNvPr id="21" name="Rectangle 20"/>
          <p:cNvSpPr/>
          <p:nvPr/>
        </p:nvSpPr>
        <p:spPr>
          <a:xfrm>
            <a:off x="4255878" y="3097987"/>
            <a:ext cx="949669" cy="1589227"/>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12</a:t>
            </a:r>
          </a:p>
        </p:txBody>
      </p:sp>
      <p:sp>
        <p:nvSpPr>
          <p:cNvPr id="22" name="Rectangle 21"/>
          <p:cNvSpPr/>
          <p:nvPr/>
        </p:nvSpPr>
        <p:spPr>
          <a:xfrm>
            <a:off x="5205548" y="3097987"/>
            <a:ext cx="949669" cy="1589227"/>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13</a:t>
            </a:r>
          </a:p>
        </p:txBody>
      </p:sp>
      <p:sp>
        <p:nvSpPr>
          <p:cNvPr id="23" name="Rectangle 22"/>
          <p:cNvSpPr/>
          <p:nvPr/>
        </p:nvSpPr>
        <p:spPr>
          <a:xfrm>
            <a:off x="6155218" y="3097987"/>
            <a:ext cx="949669" cy="1589227"/>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14</a:t>
            </a:r>
          </a:p>
        </p:txBody>
      </p:sp>
      <p:sp>
        <p:nvSpPr>
          <p:cNvPr id="24" name="Rectangle 23"/>
          <p:cNvSpPr/>
          <p:nvPr/>
        </p:nvSpPr>
        <p:spPr>
          <a:xfrm>
            <a:off x="457200" y="4687214"/>
            <a:ext cx="949669" cy="1589227"/>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15</a:t>
            </a:r>
          </a:p>
        </p:txBody>
      </p:sp>
      <p:sp>
        <p:nvSpPr>
          <p:cNvPr id="25" name="Rectangle 24"/>
          <p:cNvSpPr/>
          <p:nvPr/>
        </p:nvSpPr>
        <p:spPr>
          <a:xfrm>
            <a:off x="1406869" y="4687214"/>
            <a:ext cx="949669" cy="1589227"/>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16</a:t>
            </a:r>
          </a:p>
        </p:txBody>
      </p:sp>
      <p:sp>
        <p:nvSpPr>
          <p:cNvPr id="26" name="Rectangle 25"/>
          <p:cNvSpPr/>
          <p:nvPr/>
        </p:nvSpPr>
        <p:spPr>
          <a:xfrm>
            <a:off x="2356539" y="4687214"/>
            <a:ext cx="949669" cy="1589227"/>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17</a:t>
            </a:r>
          </a:p>
        </p:txBody>
      </p:sp>
      <p:sp>
        <p:nvSpPr>
          <p:cNvPr id="27" name="Rectangle 26"/>
          <p:cNvSpPr/>
          <p:nvPr/>
        </p:nvSpPr>
        <p:spPr>
          <a:xfrm>
            <a:off x="3306209" y="4687214"/>
            <a:ext cx="949669" cy="1589227"/>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18</a:t>
            </a:r>
          </a:p>
        </p:txBody>
      </p:sp>
      <p:sp>
        <p:nvSpPr>
          <p:cNvPr id="28" name="Rectangle 27"/>
          <p:cNvSpPr/>
          <p:nvPr/>
        </p:nvSpPr>
        <p:spPr>
          <a:xfrm>
            <a:off x="4255878" y="4687214"/>
            <a:ext cx="949669" cy="1589227"/>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19</a:t>
            </a:r>
          </a:p>
        </p:txBody>
      </p:sp>
      <p:sp>
        <p:nvSpPr>
          <p:cNvPr id="29" name="Rectangle 28"/>
          <p:cNvSpPr/>
          <p:nvPr/>
        </p:nvSpPr>
        <p:spPr>
          <a:xfrm>
            <a:off x="5205548" y="4687214"/>
            <a:ext cx="949669" cy="1589227"/>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20</a:t>
            </a:r>
          </a:p>
        </p:txBody>
      </p:sp>
      <p:sp>
        <p:nvSpPr>
          <p:cNvPr id="30" name="Rectangle 29"/>
          <p:cNvSpPr/>
          <p:nvPr/>
        </p:nvSpPr>
        <p:spPr>
          <a:xfrm>
            <a:off x="6155218" y="4687214"/>
            <a:ext cx="949669" cy="1589227"/>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21</a:t>
            </a:r>
          </a:p>
        </p:txBody>
      </p:sp>
      <p:sp>
        <p:nvSpPr>
          <p:cNvPr id="31" name="Rectangle 30"/>
          <p:cNvSpPr/>
          <p:nvPr/>
        </p:nvSpPr>
        <p:spPr>
          <a:xfrm>
            <a:off x="457200" y="6276441"/>
            <a:ext cx="949669" cy="1589227"/>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22</a:t>
            </a:r>
          </a:p>
        </p:txBody>
      </p:sp>
      <p:sp>
        <p:nvSpPr>
          <p:cNvPr id="32" name="Rectangle 31"/>
          <p:cNvSpPr/>
          <p:nvPr/>
        </p:nvSpPr>
        <p:spPr>
          <a:xfrm>
            <a:off x="1406869" y="6276441"/>
            <a:ext cx="949669" cy="1589227"/>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23</a:t>
            </a:r>
          </a:p>
        </p:txBody>
      </p:sp>
      <p:sp>
        <p:nvSpPr>
          <p:cNvPr id="33" name="Rectangle 32"/>
          <p:cNvSpPr/>
          <p:nvPr/>
        </p:nvSpPr>
        <p:spPr>
          <a:xfrm>
            <a:off x="2356539" y="6276441"/>
            <a:ext cx="949669" cy="1589227"/>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24</a:t>
            </a:r>
          </a:p>
        </p:txBody>
      </p:sp>
      <p:sp>
        <p:nvSpPr>
          <p:cNvPr id="34" name="Rectangle 33"/>
          <p:cNvSpPr/>
          <p:nvPr/>
        </p:nvSpPr>
        <p:spPr>
          <a:xfrm>
            <a:off x="3306209" y="6276441"/>
            <a:ext cx="949669" cy="1589227"/>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25</a:t>
            </a:r>
          </a:p>
        </p:txBody>
      </p:sp>
      <p:sp>
        <p:nvSpPr>
          <p:cNvPr id="35" name="Rectangle 34"/>
          <p:cNvSpPr/>
          <p:nvPr/>
        </p:nvSpPr>
        <p:spPr>
          <a:xfrm>
            <a:off x="4255878" y="6276441"/>
            <a:ext cx="949669" cy="1589227"/>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26</a:t>
            </a:r>
          </a:p>
        </p:txBody>
      </p:sp>
      <p:sp>
        <p:nvSpPr>
          <p:cNvPr id="36" name="Rectangle 35"/>
          <p:cNvSpPr/>
          <p:nvPr/>
        </p:nvSpPr>
        <p:spPr>
          <a:xfrm>
            <a:off x="5205548" y="6276441"/>
            <a:ext cx="949669" cy="1589227"/>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27</a:t>
            </a:r>
          </a:p>
        </p:txBody>
      </p:sp>
      <p:sp>
        <p:nvSpPr>
          <p:cNvPr id="37" name="Rectangle 36"/>
          <p:cNvSpPr/>
          <p:nvPr/>
        </p:nvSpPr>
        <p:spPr>
          <a:xfrm>
            <a:off x="6155218" y="6276441"/>
            <a:ext cx="949669" cy="1589227"/>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28</a:t>
            </a:r>
          </a:p>
        </p:txBody>
      </p:sp>
      <p:sp>
        <p:nvSpPr>
          <p:cNvPr id="38" name="Rectangle 37"/>
          <p:cNvSpPr/>
          <p:nvPr/>
        </p:nvSpPr>
        <p:spPr>
          <a:xfrm>
            <a:off x="457200" y="7865668"/>
            <a:ext cx="949669" cy="1589227"/>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29</a:t>
            </a:r>
          </a:p>
        </p:txBody>
      </p:sp>
      <p:sp>
        <p:nvSpPr>
          <p:cNvPr id="39" name="Rectangle 38"/>
          <p:cNvSpPr/>
          <p:nvPr/>
        </p:nvSpPr>
        <p:spPr>
          <a:xfrm>
            <a:off x="1406869" y="7865668"/>
            <a:ext cx="949669" cy="1589227"/>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30</a:t>
            </a:r>
          </a:p>
        </p:txBody>
      </p:sp>
      <p:sp>
        <p:nvSpPr>
          <p:cNvPr id="40" name="Rectangle 39"/>
          <p:cNvSpPr/>
          <p:nvPr/>
        </p:nvSpPr>
        <p:spPr>
          <a:xfrm>
            <a:off x="2356539" y="7865668"/>
            <a:ext cx="949669" cy="1589227"/>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p>
        </p:txBody>
      </p:sp>
      <p:sp>
        <p:nvSpPr>
          <p:cNvPr id="41" name="Rectangle 40"/>
          <p:cNvSpPr/>
          <p:nvPr/>
        </p:nvSpPr>
        <p:spPr>
          <a:xfrm>
            <a:off x="3306209" y="7865668"/>
            <a:ext cx="949669" cy="1589227"/>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p>
        </p:txBody>
      </p:sp>
      <p:sp>
        <p:nvSpPr>
          <p:cNvPr id="42" name="Rectangle 41"/>
          <p:cNvSpPr/>
          <p:nvPr/>
        </p:nvSpPr>
        <p:spPr>
          <a:xfrm>
            <a:off x="4255878" y="7865668"/>
            <a:ext cx="949669" cy="1589227"/>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p>
        </p:txBody>
      </p:sp>
      <p:sp>
        <p:nvSpPr>
          <p:cNvPr id="43" name="Rectangle 42"/>
          <p:cNvSpPr/>
          <p:nvPr/>
        </p:nvSpPr>
        <p:spPr>
          <a:xfrm>
            <a:off x="5205548" y="7865668"/>
            <a:ext cx="949669" cy="1589227"/>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p>
        </p:txBody>
      </p:sp>
      <p:sp>
        <p:nvSpPr>
          <p:cNvPr id="44" name="Rectangle 43"/>
          <p:cNvSpPr/>
          <p:nvPr/>
        </p:nvSpPr>
        <p:spPr>
          <a:xfrm>
            <a:off x="6155218" y="7865668"/>
            <a:ext cx="949669" cy="1589227"/>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p>
        </p:txBody>
      </p:sp>
      <p:sp>
        <p:nvSpPr>
          <p:cNvPr id="45" name="GUIDE instructions"/>
          <p:cNvSpPr txBox="1"/>
          <p:nvPr/>
        </p:nvSpPr>
        <p:spPr>
          <a:xfrm>
            <a:off x="457200" y="10232136"/>
            <a:ext cx="6647688" cy="365760"/>
          </a:xfrm>
          <a:prstGeom prst="rect">
            <a:avLst/>
          </a:prstGeom>
          <a:noFill/>
        </p:spPr>
        <p:txBody>
          <a:bodyPr wrap="square">
            <a:spAutoFit/>
          </a:bodyPr>
          <a:lstStyle/>
          <a:p>
            <a:r>
              <a:rPr sz="900" b="1">
                <a:solidFill>
                  <a:srgbClr val="1F3A2E"/>
                </a:solidFill>
              </a:rPr>
              <a:t>Example only — slide 2 is not imported. Ekklesia fills slide 1 with your real calendar.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Ekklesia calendar theme</dc:title>
  <dc:subject>Ekklesia calendar theme starter (A4 portrait)</dc:subject>
  <dc:creator>Ekklesia</dc:creator>
  <cp:keywords>ekklesia-theme; contract v1</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